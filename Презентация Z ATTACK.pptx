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5" r:id="rId9"/>
    <p:sldId id="266" r:id="rId10"/>
    <p:sldId id="264" r:id="rId11"/>
    <p:sldId id="263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CDB37-24DB-48A6-9122-F69BF0CB91A0}" v="134" dt="2026-01-28T20:14:43.352"/>
    <p1510:client id="{B023BD17-093B-4D6D-9D37-8ECE18405A2E}" v="486" dt="2026-01-28T19:18:08.097"/>
    <p1510:client id="{E1A15B84-CBC4-43EF-9B31-156EA9CA6D7E}" v="10" dt="2026-01-28T16:32:00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7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0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5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1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2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2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9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9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4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15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3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8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0168B-CBC4-3F55-5626-241CB9D4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039628" y="283264"/>
            <a:ext cx="4112497" cy="995926"/>
          </a:xfrm>
        </p:spPr>
        <p:txBody>
          <a:bodyPr anchor="b">
            <a:normAutofit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Z_ATTACK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630236" y="4485832"/>
            <a:ext cx="3418676" cy="1386840"/>
          </a:xfrm>
        </p:spPr>
        <p:txBody>
          <a:bodyPr anchor="t">
            <a:normAutofit/>
          </a:bodyPr>
          <a:lstStyle/>
          <a:p>
            <a:pPr algn="l"/>
            <a:r>
              <a:rPr lang="ru-RU" dirty="0">
                <a:latin typeface="Times New Roman"/>
                <a:cs typeface="Times New Roman"/>
              </a:rPr>
              <a:t>Авторы:</a:t>
            </a:r>
          </a:p>
          <a:p>
            <a:pPr algn="l"/>
            <a:r>
              <a:rPr lang="ru-RU" dirty="0">
                <a:latin typeface="Times New Roman"/>
                <a:cs typeface="Times New Roman"/>
              </a:rPr>
              <a:t>Мельник Павел Алексеевич</a:t>
            </a:r>
          </a:p>
          <a:p>
            <a:pPr algn="l"/>
            <a:r>
              <a:rPr lang="ru-RU" dirty="0">
                <a:latin typeface="Times New Roman"/>
                <a:cs typeface="Times New Roman"/>
              </a:rPr>
              <a:t>Солодков Лев Ильич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60678-D56D-39D5-F991-F4718E3BE7E0}"/>
              </a:ext>
            </a:extLst>
          </p:cNvPr>
          <p:cNvSpPr txBox="1"/>
          <p:nvPr/>
        </p:nvSpPr>
        <p:spPr>
          <a:xfrm>
            <a:off x="5677837" y="6014129"/>
            <a:ext cx="8253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000" dirty="0">
                <a:latin typeface="Times New Roman"/>
                <a:ea typeface="Calibri"/>
                <a:cs typeface="Calibr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ED48F-DFF4-5FCC-61AF-FB904915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598E26-6F57-7392-9D23-2CC43A68D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312E5-3319-426A-BF74-C20C937DD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-146872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EBEB3E0-489C-DE4F-8FBF-5B8CB0C62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C8EC0-C1DD-C184-5228-038805C91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2737" y="342576"/>
            <a:ext cx="4112497" cy="995926"/>
          </a:xfrm>
        </p:spPr>
        <p:txBody>
          <a:bodyPr anchor="b">
            <a:normAutofit/>
          </a:bodyPr>
          <a:lstStyle/>
          <a:p>
            <a:pPr algn="l"/>
            <a:r>
              <a:rPr lang="ru-RU" sz="5200" dirty="0">
                <a:latin typeface="Times New Roman"/>
                <a:cs typeface="Times New Roman"/>
              </a:rPr>
              <a:t>Введение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097936-9645-80A0-F2F2-FDA1E42B0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721" y="1710730"/>
            <a:ext cx="6402410" cy="267165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ru-RU" sz="2000" dirty="0">
                <a:solidFill>
                  <a:srgbClr val="F7F8FC"/>
                </a:solidFill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Проект представляет собой однопользовательскую 2D-игру в жанре </a:t>
            </a:r>
            <a:r>
              <a:rPr lang="ru-RU" sz="2000" err="1">
                <a:solidFill>
                  <a:srgbClr val="F7F8FC"/>
                </a:solidFill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survival-action</a:t>
            </a:r>
            <a:r>
              <a:rPr lang="ru-RU" sz="2000" dirty="0">
                <a:solidFill>
                  <a:srgbClr val="F7F8FC"/>
                </a:solidFill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, разработанную на Python с использованием библиотеки </a:t>
            </a:r>
            <a:r>
              <a:rPr lang="ru-RU" sz="2000" err="1">
                <a:solidFill>
                  <a:srgbClr val="F7F8FC"/>
                </a:solidFill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Arcade</a:t>
            </a:r>
            <a:r>
              <a:rPr lang="ru-RU" sz="2000" dirty="0">
                <a:solidFill>
                  <a:srgbClr val="F7F8FC"/>
                </a:solidFill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. Цель проекта — создание атмосферного постапокалиптического экшена с элементами выживания, где игрок защищает базу от волн зомби, собирает ресурсы и улучшает своё вооружение.</a:t>
            </a:r>
            <a:endParaRPr lang="ru-RU" dirty="0">
              <a:highlight>
                <a:srgbClr val="000000"/>
              </a:highlight>
              <a:latin typeface="Times New Roman"/>
              <a:ea typeface="+mn-lt"/>
              <a:cs typeface="+mn-lt"/>
            </a:endParaRPr>
          </a:p>
        </p:txBody>
      </p:sp>
      <p:pic>
        <p:nvPicPr>
          <p:cNvPr id="13" name="Рисунок 12" descr="Изображение выглядит как символ, Графика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1D611B-CE75-33B0-5C13-A62A5CE2E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357" y="733168"/>
            <a:ext cx="3785287" cy="378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91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2D7EF-A434-8C7B-EC79-9EEB9B8A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0460A0-B959-89E4-6F6E-0BCB06022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D0082-8303-E6DD-B468-FA86C7B5FC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3282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A89EBEB-85C3-77BE-6054-CF13A24D5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495BC-C60A-362C-9942-A33B8C1B1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5303" y="111049"/>
            <a:ext cx="7449206" cy="1005952"/>
          </a:xfrm>
        </p:spPr>
        <p:txBody>
          <a:bodyPr anchor="b">
            <a:normAutofit fontScale="90000"/>
          </a:bodyPr>
          <a:lstStyle/>
          <a:p>
            <a:pPr algn="l"/>
            <a:r>
              <a:rPr lang="ru-RU" sz="5800" dirty="0">
                <a:highlight>
                  <a:srgbClr val="000000"/>
                </a:highlight>
                <a:latin typeface="Times New Roman"/>
                <a:cs typeface="Times New Roman"/>
              </a:rPr>
              <a:t>Задачи и цели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8586FB-A7F2-F457-649E-83A539477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500" y="1715277"/>
            <a:ext cx="5695494" cy="407679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Реализовать 2D-игру в жанре </a:t>
            </a:r>
            <a:r>
              <a:rPr lang="ru-RU" sz="200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survival-action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 с элементами выживания и защиты базы.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Научиться проектировать игровую архитектуру на основе ООП и </a:t>
            </a:r>
            <a:r>
              <a:rPr lang="ru-RU" sz="200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многоэкранных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 представлений (</a:t>
            </a:r>
            <a:r>
              <a:rPr lang="ru-RU" sz="200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arcade.View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).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Освоить работу с библиотекой </a:t>
            </a:r>
            <a:r>
              <a:rPr lang="ru-RU" sz="200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arcade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Создать масштабируемую систему оружия, врагов и прогрессии для дальнейшего расширения.</a:t>
            </a:r>
            <a:endParaRPr lang="ru-RU" sz="2000" dirty="0">
              <a:highlight>
                <a:srgbClr val="000000"/>
              </a:highlight>
              <a:latin typeface="Times New Roman"/>
            </a:endParaRPr>
          </a:p>
        </p:txBody>
      </p:sp>
      <p:pic>
        <p:nvPicPr>
          <p:cNvPr id="6" name="Рисунок 5" descr="Изображение выглядит как круг, символ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CF1733-A5AC-C948-3FE0-3141C26B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195" y="1474573"/>
            <a:ext cx="3291017" cy="32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00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83247-41D3-B64A-7E48-D7BCF1147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A74A59-DF40-43AE-2EB9-FC0ED6C37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052827-9E20-7760-EBFA-1C48E71B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-160411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EC76B25-9AB2-6749-FC24-5743EB20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8E302C-74BB-D0A9-CDCF-685B9517D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872" y="278234"/>
            <a:ext cx="5131557" cy="995926"/>
          </a:xfrm>
        </p:spPr>
        <p:txBody>
          <a:bodyPr anchor="b">
            <a:normAutofit/>
          </a:bodyPr>
          <a:lstStyle/>
          <a:p>
            <a:pPr algn="l"/>
            <a:r>
              <a:rPr lang="ru-RU" sz="5200" dirty="0">
                <a:latin typeface="Times New Roman"/>
                <a:cs typeface="Times New Roman"/>
              </a:rPr>
              <a:t>Инструменты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3715DA-F357-1632-D69B-0621417C8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334" y="1716242"/>
            <a:ext cx="5721829" cy="319653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Язык: Python 3.11</a:t>
            </a:r>
            <a:endParaRPr lang="ru-RU" sz="2000" dirty="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Библиотеки: </a:t>
            </a:r>
            <a:r>
              <a:rPr lang="ru-RU" sz="2000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Arcade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, </a:t>
            </a:r>
            <a:r>
              <a:rPr lang="ru-RU" sz="2000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random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, </a:t>
            </a:r>
            <a:r>
              <a:rPr lang="ru-RU" sz="2000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csv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, </a:t>
            </a:r>
            <a:r>
              <a:rPr lang="ru-RU" sz="2000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os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, </a:t>
            </a:r>
            <a:r>
              <a:rPr lang="ru-RU" sz="2000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time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, </a:t>
            </a:r>
            <a:r>
              <a:rPr lang="ru-RU" sz="2000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math</a:t>
            </a:r>
            <a:endParaRPr lang="ru-RU" sz="2000" dirty="0">
              <a:highlight>
                <a:srgbClr val="000000"/>
              </a:highlight>
              <a:latin typeface="Times New Roman"/>
              <a:ea typeface="+mn-lt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Среда разработки: </a:t>
            </a:r>
            <a:r>
              <a:rPr lang="ru-RU" sz="2000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PyCharm</a:t>
            </a:r>
            <a:endParaRPr lang="ru-RU" sz="2000" dirty="0" err="1">
              <a:highlight>
                <a:srgbClr val="000000"/>
              </a:highlight>
              <a:latin typeface="Times New Roman"/>
              <a:cs typeface="Times New Roman"/>
            </a:endParaRPr>
          </a:p>
        </p:txBody>
      </p:sp>
      <p:pic>
        <p:nvPicPr>
          <p:cNvPr id="5" name="Рисунок 4" descr="Изображение выглядит как мультфильм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DCC495-B0CA-088D-E4DC-CB2F0D00F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49" y="1567249"/>
            <a:ext cx="2889422" cy="288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56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2ED46-6D78-F91B-EA94-B9369C19F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AF6F07-244B-6721-68B8-98026D06F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F808AB-C87C-EC73-B88B-E61B43D9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CE7B66B-4C9F-9B53-77FB-9E9EA4BC5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415DB9-FB79-B6F2-A358-FEA6A64CA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0790" y="254074"/>
            <a:ext cx="6147839" cy="995926"/>
          </a:xfrm>
        </p:spPr>
        <p:txBody>
          <a:bodyPr anchor="b">
            <a:normAutofit/>
          </a:bodyPr>
          <a:lstStyle/>
          <a:p>
            <a:pPr algn="l"/>
            <a:r>
              <a:rPr lang="ru-RU" sz="5200" dirty="0">
                <a:latin typeface="Times New Roman"/>
                <a:cs typeface="Times New Roman"/>
              </a:rPr>
              <a:t>Алгоритм</a:t>
            </a:r>
            <a:r>
              <a:rPr lang="ru-RU" sz="5800" dirty="0">
                <a:latin typeface="Times New Roman"/>
                <a:cs typeface="Times New Roman"/>
              </a:rPr>
              <a:t> работы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8FB5AD-32AB-CCE3-5C83-7446C52BE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242" y="1169869"/>
            <a:ext cx="7790149" cy="511662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При запуске создаётся главное окно и загружается </a:t>
            </a:r>
            <a:r>
              <a:rPr lang="ru-RU" sz="2000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GameView</a:t>
            </a:r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.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Игра разбита на дни и волны: каждые 3 волны — новый день, сложность растёт.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Игрок перемещается (WASD), стреляет по курсору (ЛКМ), собирает детали (E).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Зомби выбирают цель (игрок или база) и атакуют её.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После убийства зомби выпадают детали — валюта для покупки оружия и улучшений (F у базы).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Прогресс автоматически сохраняется в savegame.csv при переходе на новый день.</a:t>
            </a:r>
            <a:endParaRPr lang="ru-RU" sz="20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sz="2000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При смерти игрока или разрушении базы — экран проигрыша с возможностью начать заново.</a:t>
            </a:r>
            <a:endParaRPr lang="ru-RU" sz="2000" dirty="0">
              <a:highlight>
                <a:srgbClr val="000000"/>
              </a:highlight>
              <a:latin typeface="Times New Roman"/>
            </a:endParaRPr>
          </a:p>
        </p:txBody>
      </p:sp>
      <p:pic>
        <p:nvPicPr>
          <p:cNvPr id="6" name="Рисунок 5" descr="Изображение выглядит как снимок экрана, дизайн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929C0F-E30F-1F32-D7E9-283788DC6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789" y="1484870"/>
            <a:ext cx="4197179" cy="419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93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ECFC5-B2D2-8303-1D86-5279F9BF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2B2D4C-EA4B-AC90-A10D-27413CBDE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B5756-B134-239B-CC5B-F43B8CA094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D46EAE-36D5-4261-4356-3F88F806B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7F69E-9E09-31AD-2B2F-04545C8BE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1186" y="324258"/>
            <a:ext cx="5857075" cy="995926"/>
          </a:xfrm>
        </p:spPr>
        <p:txBody>
          <a:bodyPr anchor="b">
            <a:normAutofit fontScale="90000"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Скриншоты игры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248369-0F67-8617-CBAB-C322296F3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610" y="2132394"/>
            <a:ext cx="2867230" cy="644893"/>
          </a:xfrm>
        </p:spPr>
        <p:txBody>
          <a:bodyPr anchor="t">
            <a:normAutofit/>
          </a:bodyPr>
          <a:lstStyle/>
          <a:p>
            <a:pPr algn="l"/>
            <a:r>
              <a:rPr lang="ru-RU" sz="2800" dirty="0">
                <a:highlight>
                  <a:srgbClr val="000000"/>
                </a:highlight>
                <a:latin typeface="Times New Roman"/>
                <a:cs typeface="Times New Roman"/>
              </a:rPr>
              <a:t>Главное меню</a:t>
            </a:r>
          </a:p>
        </p:txBody>
      </p:sp>
      <p:pic>
        <p:nvPicPr>
          <p:cNvPr id="7" name="Рисунок 6" descr="Изображение выглядит как небо, облако, строительство, горо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2B9FC7-043A-9269-C1B7-BDABC6553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21" y="2767263"/>
            <a:ext cx="3418975" cy="2566739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Компьютерная игра, Программное обеспечение для видеоиг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FF0CC1-A095-60E3-AE40-67A2E6B82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663" y="2770521"/>
            <a:ext cx="4688806" cy="256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713792-E371-815E-8787-74486DFCC9CE}"/>
              </a:ext>
            </a:extLst>
          </p:cNvPr>
          <p:cNvSpPr txBox="1"/>
          <p:nvPr/>
        </p:nvSpPr>
        <p:spPr>
          <a:xfrm>
            <a:off x="4682289" y="2245894"/>
            <a:ext cx="283744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highlight>
                  <a:srgbClr val="000000"/>
                </a:highlight>
                <a:latin typeface="Times New Roman"/>
                <a:cs typeface="Times New Roman"/>
              </a:rPr>
              <a:t>Меню крафта</a:t>
            </a:r>
          </a:p>
        </p:txBody>
      </p:sp>
      <p:pic>
        <p:nvPicPr>
          <p:cNvPr id="12" name="Рисунок 11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842E9D-01BD-E9F0-FF7D-D6428A8F6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717" y="2767012"/>
            <a:ext cx="3464092" cy="25672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3A305C-462B-29FF-0FB3-BF8DA9C0D7AD}"/>
              </a:ext>
            </a:extLst>
          </p:cNvPr>
          <p:cNvSpPr txBox="1"/>
          <p:nvPr/>
        </p:nvSpPr>
        <p:spPr>
          <a:xfrm>
            <a:off x="9073815" y="2245895"/>
            <a:ext cx="22458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highlight>
                  <a:srgbClr val="000000"/>
                </a:highlight>
                <a:latin typeface="Times New Roman"/>
                <a:cs typeface="Times New Roman"/>
              </a:rPr>
              <a:t>Меню паузы</a:t>
            </a:r>
          </a:p>
        </p:txBody>
      </p:sp>
    </p:spTree>
    <p:extLst>
      <p:ext uri="{BB962C8B-B14F-4D97-AF65-F5344CB8AC3E}">
        <p14:creationId xmlns:p14="http://schemas.microsoft.com/office/powerpoint/2010/main" val="2608466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19462-E591-27A3-1828-E04ADE9B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C05692-6AD6-A728-9908-8ADDEBB8D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E60020-7145-864C-765B-54C2862C1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802523-26AE-12AA-CE57-3158DB21F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8E857D-6F03-6727-627B-90C675E04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1186" y="324258"/>
            <a:ext cx="5857075" cy="995926"/>
          </a:xfrm>
        </p:spPr>
        <p:txBody>
          <a:bodyPr anchor="b">
            <a:normAutofit fontScale="90000"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Скриншоты игры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18686902-0977-F20B-70F1-286616DB3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423" y="2409944"/>
            <a:ext cx="2845708" cy="5919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800" dirty="0">
                <a:latin typeface="Times New Roman"/>
                <a:cs typeface="Times New Roman"/>
              </a:rPr>
              <a:t>Поражение</a:t>
            </a:r>
            <a:endParaRPr lang="ru-RU" sz="2800" dirty="0">
              <a:latin typeface="Times New Roman"/>
              <a:ea typeface="+mn-lt"/>
              <a:cs typeface="Times New Roman"/>
            </a:endParaRPr>
          </a:p>
        </p:txBody>
      </p:sp>
      <p:pic>
        <p:nvPicPr>
          <p:cNvPr id="14" name="Рисунок 13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E3911A-6DFA-030A-C7FB-E65C8EE66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97868"/>
            <a:ext cx="4170948" cy="2346159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9652C9-8B71-E71E-23C5-415760760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947" y="2997868"/>
            <a:ext cx="3779922" cy="2346159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77E9C5-DED5-10FE-36F7-60AACCEB2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869" y="3001193"/>
            <a:ext cx="4150895" cy="23395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B62538-7280-02C6-EBE3-44F73562ED11}"/>
              </a:ext>
            </a:extLst>
          </p:cNvPr>
          <p:cNvSpPr txBox="1"/>
          <p:nvPr/>
        </p:nvSpPr>
        <p:spPr>
          <a:xfrm>
            <a:off x="6096000" y="2286000"/>
            <a:ext cx="382002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latin typeface="Times New Roman"/>
                <a:cs typeface="Times New Roman"/>
              </a:rPr>
              <a:t>Общий геймплей</a:t>
            </a:r>
          </a:p>
        </p:txBody>
      </p:sp>
    </p:spTree>
    <p:extLst>
      <p:ext uri="{BB962C8B-B14F-4D97-AF65-F5344CB8AC3E}">
        <p14:creationId xmlns:p14="http://schemas.microsoft.com/office/powerpoint/2010/main" val="288377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0EDEE-F7BA-4B8E-D9F6-33D1B6F3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A2CF91-DD6B-346B-F53F-4C37024A2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E2649-B267-F056-4B5A-C1B48AABB2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C14083-B416-E4C8-14A7-FE6A23F64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F3C177-B648-06F6-B397-86E13B44E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2186" y="254074"/>
            <a:ext cx="5095075" cy="995926"/>
          </a:xfrm>
        </p:spPr>
        <p:txBody>
          <a:bodyPr anchor="b">
            <a:normAutofit fontScale="90000"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Фрагмент кода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9F507E-E9BD-C233-B08A-F5DDD7831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0084" y="1961948"/>
            <a:ext cx="4471438" cy="3311892"/>
          </a:xfrm>
        </p:spPr>
        <p:txBody>
          <a:bodyPr anchor="t">
            <a:normAutofit fontScale="92500" lnSpcReduction="20000"/>
          </a:bodyPr>
          <a:lstStyle/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Метод </a:t>
            </a:r>
            <a:r>
              <a:rPr lang="ru-RU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save_game</a:t>
            </a:r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 сохраняет текущее состояние игры в CSV-файл, включая: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Заголовки столбцов для структурирования данных.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Параметры игры (день, здоровье, улучшения, статус оружия), взятые из атрибутов экземпляра класса.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Обработку ошибок: при успешной записи выводится подтверждение, при ошибке — детали исключения.</a:t>
            </a:r>
            <a:endParaRPr lang="ru-RU" dirty="0">
              <a:highlight>
                <a:srgbClr val="000000"/>
              </a:highlight>
              <a:latin typeface="Times New Roman"/>
            </a:endParaRPr>
          </a:p>
          <a:p>
            <a:pPr algn="l"/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A4A327-0F9D-4868-1647-0AE62A6B0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84" y="1959393"/>
            <a:ext cx="6124575" cy="292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7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9A332-DF13-B9B8-7AFF-AFD0D3D9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657EBE-11F5-4FBF-39FB-0C330F6F9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C5A11-F8A6-4436-FEF9-109B4C78E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073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6E23F-78EA-9C72-0D91-EBC7EAB23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8405-FA03-0E5E-F72E-89051159F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422" y="364363"/>
            <a:ext cx="10559417" cy="895663"/>
          </a:xfrm>
        </p:spPr>
        <p:txBody>
          <a:bodyPr anchor="b">
            <a:normAutofit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Результаты и тестирование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C5ACA0-D2DD-24B1-99C7-BDC71C684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795" y="1711289"/>
            <a:ext cx="8471938" cy="44248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Полностью реализованы все заявленные механики: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 перемещение, стрельба, перезарядка, смена оружия;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 система волн и прогрессии;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 магазин крафта и сбор ресурсов;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 сохранение и загрузка игры.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Проведено ручное тестирование: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 корректная работа всех типов оружия (пистолет, дробовик, автомат);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 стабильное поведение зомби;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 корректная загрузка после закрытия.</a:t>
            </a:r>
            <a:endParaRPr lang="ru-RU" dirty="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5" name="Рисунок 4" descr="Изображение выглядит как снимок экрана, текст, дизайн, зна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C5B802-C524-C8F7-1FE8-F6C7467E1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195" y="1629032"/>
            <a:ext cx="3496963" cy="349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44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BF866-D7CE-F901-8029-F5F6BE6E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F477BB-7983-02E5-5228-DFD564058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B5084-FFE6-47F2-5D86-FCBA8632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F4D891-591C-456C-48AA-150097976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98CA4-160B-B4B5-E6AB-4960293B8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9628" y="297475"/>
            <a:ext cx="4112497" cy="995926"/>
          </a:xfrm>
        </p:spPr>
        <p:txBody>
          <a:bodyPr anchor="b">
            <a:normAutofit fontScale="90000"/>
          </a:bodyPr>
          <a:lstStyle/>
          <a:p>
            <a:pPr algn="l"/>
            <a:r>
              <a:rPr lang="ru-RU" sz="5800" dirty="0">
                <a:latin typeface="Times New Roman"/>
                <a:cs typeface="Times New Roman"/>
              </a:rPr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9AA7B8-4062-526C-0590-613C923D3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373" y="1118089"/>
            <a:ext cx="10929622" cy="566367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Выводы и опыт</a:t>
            </a: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1. Что получилось</a:t>
            </a: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Сохранение игры в CSV с полной структурой данных </a:t>
            </a:r>
            <a:endParaRPr lang="ru-RU" dirty="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Корректная работа с файлами</a:t>
            </a:r>
            <a:endParaRPr lang="ru-RU" dirty="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Надежная обработка ошибок при записи </a:t>
            </a:r>
            <a:endParaRPr lang="ru-RU" dirty="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2. Навыки</a:t>
            </a: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Работа с модулем </a:t>
            </a:r>
            <a:r>
              <a:rPr lang="ru-RU" dirty="0" err="1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csv</a:t>
            </a:r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 для табличных данных</a:t>
            </a:r>
            <a:endParaRPr lang="ru-RU" dirty="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Практика обработки исключений и логирования ошибок</a:t>
            </a:r>
            <a:endParaRPr lang="ru-RU">
              <a:highlight>
                <a:srgbClr val="000000"/>
              </a:highlight>
              <a:latin typeface="Times New Roman"/>
              <a:cs typeface="Times New Roman"/>
            </a:endParaRPr>
          </a:p>
          <a:p>
            <a:pPr algn="l"/>
            <a:r>
              <a:rPr lang="ru-RU" dirty="0">
                <a:highlight>
                  <a:srgbClr val="000000"/>
                </a:highlight>
                <a:latin typeface="Times New Roman"/>
                <a:ea typeface="+mn-lt"/>
                <a:cs typeface="+mn-lt"/>
              </a:rPr>
              <a:t>Проектирование структурированных данных с учетом будущего расширения</a:t>
            </a:r>
            <a:endParaRPr lang="ru-RU" dirty="0">
              <a:highlight>
                <a:srgbClr val="000000"/>
              </a:highlight>
              <a:latin typeface="Times New Roman"/>
            </a:endParaRPr>
          </a:p>
          <a:p>
            <a:pPr algn="l"/>
            <a:endParaRPr lang="ru-RU" sz="2000" dirty="0">
              <a:latin typeface="Times New Roman"/>
            </a:endParaRPr>
          </a:p>
        </p:txBody>
      </p:sp>
      <p:pic>
        <p:nvPicPr>
          <p:cNvPr id="8" name="Рисунок 7" descr="Изображение выглядит как текст, снимок экрана, дизайн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0BAC14-F238-1CD4-9487-68555757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114" y="2164492"/>
            <a:ext cx="2879125" cy="287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56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35A8C-CD7B-1E26-D48A-64AEE332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91066F-6E48-969D-9392-A62D3570E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DEA66-459B-8FFA-6880-0E41485F49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1430" r="-7" b="63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8A7B6B-A9FF-18E6-F05F-2B42F4DF5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0C7ED-3855-1A40-B303-8D22AEE91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0288" y="1988490"/>
            <a:ext cx="7891179" cy="1434336"/>
          </a:xfrm>
        </p:spPr>
        <p:txBody>
          <a:bodyPr anchor="b">
            <a:noAutofit/>
          </a:bodyPr>
          <a:lstStyle/>
          <a:p>
            <a:pPr algn="l"/>
            <a:r>
              <a:rPr lang="ru-RU" sz="6000" dirty="0">
                <a:highlight>
                  <a:srgbClr val="000000"/>
                </a:highlight>
                <a:latin typeface="Times New Roman"/>
                <a:cs typeface="Times New Roman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470258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VanillaVTI</vt:lpstr>
      <vt:lpstr>Z_ATTACK</vt:lpstr>
      <vt:lpstr>Введение</vt:lpstr>
      <vt:lpstr>Задачи и цели проекта</vt:lpstr>
      <vt:lpstr>Инструменты</vt:lpstr>
      <vt:lpstr>Алгоритм работы</vt:lpstr>
      <vt:lpstr>Скриншоты игры</vt:lpstr>
      <vt:lpstr>Скриншоты игры</vt:lpstr>
      <vt:lpstr>Фрагмент кода</vt:lpstr>
      <vt:lpstr>Результаты и тестирование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276</cp:revision>
  <dcterms:created xsi:type="dcterms:W3CDTF">2026-01-12T18:59:33Z</dcterms:created>
  <dcterms:modified xsi:type="dcterms:W3CDTF">2026-01-28T20:14:55Z</dcterms:modified>
</cp:coreProperties>
</file>